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DDD / 100 Bed-Days</c:v>
                </c:pt>
              </c:strCache>
            </c:strRef>
          </c:tx>
          <c:spPr>
            <a:solidFill>
              <a:srgbClr val="0A7E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A7E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A7E8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A7E8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A7E8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Amoxicillin</c:v>
                  </c:pt>
                  <c:pt idx="1">
                    <c:v>Co-trimoxazole</c:v>
                  </c:pt>
                  <c:pt idx="2">
                    <c:v>Ceftriaxone</c:v>
                  </c:pt>
                  <c:pt idx="3">
                    <c:v>Ciprofloxacin</c:v>
                  </c:pt>
                  <c:pt idx="4">
                    <c:v>Metronidazole</c:v>
                  </c:pt>
                  <c:pt idx="5">
                    <c:v>Doxycycline</c:v>
                  </c:pt>
                  <c:pt idx="6">
                    <c:v>Cefuroxime</c:v>
                  </c:pt>
                  <c:pt idx="7">
                    <c:v>Azithromycin</c:v>
                  </c:pt>
                  <c:pt idx="8">
                    <c:v>Meropenem</c:v>
                  </c:pt>
                  <c:pt idx="9">
                    <c:v>Vancomycin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45</c:v>
                </c:pt>
                <c:pt idx="1">
                  <c:v>20</c:v>
                </c:pt>
                <c:pt idx="2">
                  <c:v>30</c:v>
                </c:pt>
                <c:pt idx="3">
                  <c:v>25</c:v>
                </c:pt>
                <c:pt idx="4">
                  <c:v>19</c:v>
                </c:pt>
                <c:pt idx="5">
                  <c:v>12</c:v>
                </c:pt>
                <c:pt idx="6">
                  <c:v>15</c:v>
                </c:pt>
                <c:pt idx="7">
                  <c:v>10</c:v>
                </c:pt>
                <c:pt idx="8">
                  <c:v>3</c:v>
                </c:pt>
                <c:pt idx="9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Ciprofloxacin resistance % in E. coli</c:v>
                </c:pt>
              </c:strCache>
            </c:strRef>
          </c:tx>
          <c:spPr>
            <a:solidFill>
              <a:srgbClr val="DC2626"/>
            </a:solidFill>
            <a:ln w="25400" cap="flat">
              <a:solidFill>
                <a:srgbClr val="DC262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8</c:v>
                </c:pt>
                <c:pt idx="1">
                  <c:v>12</c:v>
                </c:pt>
                <c:pt idx="2">
                  <c:v>18</c:v>
                </c:pt>
                <c:pt idx="3">
                  <c:v>22</c:v>
                </c:pt>
                <c:pt idx="4">
                  <c:v>25</c:v>
                </c:pt>
                <c:pt idx="5">
                  <c:v>31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30</c:v>
                </c:pt>
                <c:pt idx="1">
                  <c:v>38</c:v>
                </c:pt>
                <c:pt idx="2">
                  <c:v>54</c:v>
                </c:pt>
                <c:pt idx="3">
                  <c:v>68</c:v>
                </c:pt>
                <c:pt idx="4">
                  <c:v>74</c:v>
                </c:pt>
                <c:pt idx="5">
                  <c:v>95</c:v>
                </c:pt>
                <c:pt idx="6">
                  <c:v>98</c:v>
                </c:pt>
                <c:pt idx="7">
                  <c:v>110</c:v>
                </c:pt>
                <c:pt idx="8">
                  <c:v>120</c:v>
                </c:pt>
                <c:pt idx="9">
                  <c:v>144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Regression line</c:v>
                </c:pt>
              </c:strCache>
            </c:strRef>
          </c:tx>
          <c:spPr>
            <a:solidFill>
              <a:srgbClr val="DC2626"/>
            </a:solidFill>
            <a:ln w="25400" cap="flat">
              <a:solidFill>
                <a:srgbClr val="DC262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8</c:v>
                </c:pt>
                <c:pt idx="1">
                  <c:v>12</c:v>
                </c:pt>
                <c:pt idx="2">
                  <c:v>18</c:v>
                </c:pt>
                <c:pt idx="3">
                  <c:v>22</c:v>
                </c:pt>
                <c:pt idx="4">
                  <c:v>25</c:v>
                </c:pt>
                <c:pt idx="5">
                  <c:v>31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29</c:v>
                </c:pt>
                <c:pt idx="1">
                  <c:v>40</c:v>
                </c:pt>
                <c:pt idx="2">
                  <c:v>55</c:v>
                </c:pt>
                <c:pt idx="3">
                  <c:v>66</c:v>
                </c:pt>
                <c:pt idx="4">
                  <c:v>74</c:v>
                </c:pt>
                <c:pt idx="5">
                  <c:v>89</c:v>
                </c:pt>
                <c:pt idx="6">
                  <c:v>100</c:v>
                </c:pt>
                <c:pt idx="7">
                  <c:v>113</c:v>
                </c:pt>
                <c:pt idx="8">
                  <c:v>126</c:v>
                </c:pt>
                <c:pt idx="9">
                  <c:v>139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3810" cap="flat">
              <a:solidFill>
                <a:srgbClr val="F1F5F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334155"/>
                    </a:solidFill>
                    <a:latin typeface="Arial"/>
                  </a:rPr>
                  <a:t>Ciprofloxacin DDD/100 Bed-Days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334155"/>
                    </a:solidFill>
                    <a:latin typeface="Arial"/>
                  </a:rPr>
                  <a:t>E. coli Resistance to Ciprofloxacin (%)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PDD (mg/day)</c:v>
                </c:pt>
              </c:strCache>
            </c:strRef>
          </c:tx>
          <c:spPr>
            <a:solidFill>
              <a:srgbClr val="0A7E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Amoxicillin</c:v>
                  </c:pt>
                  <c:pt idx="1">
                    <c:v>Ciprofloxacin</c:v>
                  </c:pt>
                  <c:pt idx="2">
                    <c:v>Ceftriaxone</c:v>
                  </c:pt>
                  <c:pt idx="3">
                    <c:v>Metronidazole</c:v>
                  </c:pt>
                  <c:pt idx="4">
                    <c:v>Azithromycin</c:v>
                  </c:pt>
                  <c:pt idx="5">
                    <c:v>Gentamicin</c:v>
                  </c:pt>
                  <c:pt idx="6">
                    <c:v>Co-trimoxazole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875</c:v>
                </c:pt>
                <c:pt idx="1">
                  <c:v>650</c:v>
                </c:pt>
                <c:pt idx="2">
                  <c:v>1600</c:v>
                </c:pt>
                <c:pt idx="3">
                  <c:v>1200</c:v>
                </c:pt>
                <c:pt idx="4">
                  <c:v>350</c:v>
                </c:pt>
                <c:pt idx="5">
                  <c:v>180</c:v>
                </c:pt>
                <c:pt idx="6">
                  <c:v>800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WHO DDD (mg/day)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Amoxicillin</c:v>
                  </c:pt>
                  <c:pt idx="1">
                    <c:v>Ciprofloxacin</c:v>
                  </c:pt>
                  <c:pt idx="2">
                    <c:v>Ceftriaxone</c:v>
                  </c:pt>
                  <c:pt idx="3">
                    <c:v>Metronidazole</c:v>
                  </c:pt>
                  <c:pt idx="4">
                    <c:v>Azithromycin</c:v>
                  </c:pt>
                  <c:pt idx="5">
                    <c:v>Gentamicin</c:v>
                  </c:pt>
                  <c:pt idx="6">
                    <c:v>Co-trimoxazole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1000</c:v>
                </c:pt>
                <c:pt idx="1">
                  <c:v>1000</c:v>
                </c:pt>
                <c:pt idx="2">
                  <c:v>2000</c:v>
                </c:pt>
                <c:pt idx="3">
                  <c:v>1500</c:v>
                </c:pt>
                <c:pt idx="4">
                  <c:v>300</c:v>
                </c:pt>
                <c:pt idx="5">
                  <c:v>240</c:v>
                </c:pt>
                <c:pt idx="6">
                  <c:v>1920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Ceftriaxone (Watch)</c:v>
                </c:pt>
              </c:strCache>
            </c:strRef>
          </c:tx>
          <c:spPr>
            <a:solidFill>
              <a:srgbClr val="F59E0B"/>
            </a:solidFill>
            <a:ln w="3175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28</c:v>
                </c:pt>
                <c:pt idx="1">
                  <c:v>30</c:v>
                </c:pt>
                <c:pt idx="2">
                  <c:v>32</c:v>
                </c:pt>
                <c:pt idx="3">
                  <c:v>31</c:v>
                </c:pt>
                <c:pt idx="4">
                  <c:v>35</c:v>
                </c:pt>
                <c:pt idx="5">
                  <c:v>38</c:v>
                </c:pt>
                <c:pt idx="6">
                  <c:v>41</c:v>
                </c:pt>
                <c:pt idx="7">
                  <c:v>45</c:v>
                </c:pt>
                <c:pt idx="8">
                  <c:v>40</c:v>
                </c:pt>
                <c:pt idx="9">
                  <c:v>33</c:v>
                </c:pt>
                <c:pt idx="10">
                  <c:v>29</c:v>
                </c:pt>
                <c:pt idx="11">
                  <c:v>28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Amoxicillin (Access)</c:v>
                </c:pt>
              </c:strCache>
            </c:strRef>
          </c:tx>
          <c:spPr>
            <a:solidFill>
              <a:srgbClr val="16A34A"/>
            </a:solidFill>
            <a:ln w="31750" cap="flat">
              <a:solidFill>
                <a:srgbClr val="16A3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6A34A"/>
              </a:solidFill>
              <a:ln w="9525" cap="flat">
                <a:solidFill>
                  <a:srgbClr val="16A3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40</c:v>
                </c:pt>
                <c:pt idx="1">
                  <c:v>42</c:v>
                </c:pt>
                <c:pt idx="2">
                  <c:v>38</c:v>
                </c:pt>
                <c:pt idx="3">
                  <c:v>41</c:v>
                </c:pt>
                <c:pt idx="4">
                  <c:v>39</c:v>
                </c:pt>
                <c:pt idx="5">
                  <c:v>43</c:v>
                </c:pt>
                <c:pt idx="6">
                  <c:v>45</c:v>
                </c:pt>
                <c:pt idx="7">
                  <c:v>47</c:v>
                </c:pt>
                <c:pt idx="8">
                  <c:v>42</c:v>
                </c:pt>
                <c:pt idx="9">
                  <c:v>40</c:v>
                </c:pt>
                <c:pt idx="10">
                  <c:v>38</c:v>
                </c:pt>
                <c:pt idx="11">
                  <c:v>41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Meropenem (Reserve)</c:v>
                </c:pt>
              </c:strCache>
            </c:strRef>
          </c:tx>
          <c:spPr>
            <a:solidFill>
              <a:srgbClr val="DC2626"/>
            </a:solidFill>
            <a:ln w="31750" cap="flat">
              <a:solidFill>
                <a:srgbClr val="DC26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3</c:v>
                </c:pt>
                <c:pt idx="1">
                  <c:v>3</c:v>
                </c:pt>
                <c:pt idx="2">
                  <c:v>4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6</c:v>
                </c:pt>
                <c:pt idx="9">
                  <c:v>5</c:v>
                </c:pt>
                <c:pt idx="10">
                  <c:v>4</c:v>
                </c:pt>
                <c:pt idx="11">
                  <c:v>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DDD / 100 Bed-Days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NHIS Reimbursement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86EFAC"/>
              </a:solidFill>
              <a:effectLst/>
            </c:spPr>
          </c:dPt>
          <c:dPt>
            <c:idx val="3"/>
            <c:bubble3D val="0"/>
            <c:spPr>
              <a:solidFill>
                <a:srgbClr val="FDE68A"/>
              </a:solidFill>
              <a:effectLst/>
            </c:spPr>
          </c:dPt>
          <c:dPt>
            <c:idx val="4"/>
            <c:bubble3D val="0"/>
            <c:spPr>
              <a:solidFill>
                <a:srgbClr val="DC262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Reimbursed (R) — Access</c:v>
                </c:pt>
                <c:pt idx="1">
                  <c:v>Reimbursed (R) — Watch</c:v>
                </c:pt>
                <c:pt idx="2">
                  <c:v>Not Reimbursed — Access</c:v>
                </c:pt>
                <c:pt idx="3">
                  <c:v>Not Reimbursed — Watch</c:v>
                </c:pt>
                <c:pt idx="4">
                  <c:v>Reserve (all NR)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35</c:v>
                </c:pt>
                <c:pt idx="1">
                  <c:v>28</c:v>
                </c:pt>
                <c:pt idx="2">
                  <c:v>20</c:v>
                </c:pt>
                <c:pt idx="3">
                  <c:v>12</c:v>
                </c:pt>
                <c:pt idx="4">
                  <c:v>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008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Antimicrobial Consumption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Resistance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2331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TO HOSPITAL DECISIONS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834640"/>
            <a:ext cx="5029200" cy="36576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971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 Surveillance · DDD/DOT/PDD · AWaRe Framework · Stewardship Decisions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7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Ghana EML 7th Edition (2017) · WHO/GLASS Methodology · EUCAST/EARS-Net Reference Data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Antimicrobial Consumption Data Matters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burden — and what every hospital can do about 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19659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196596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716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1.27M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20040" y="2148840"/>
            <a:ext cx="1965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DIRECTLY caused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AMR in 2019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2788920"/>
            <a:ext cx="19659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(Lancet, 2022 — Murray et al.)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68880" y="1188720"/>
            <a:ext cx="19659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188720"/>
            <a:ext cx="19659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3716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4.95M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468880" y="2148840"/>
            <a:ext cx="1965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ASSOCIATED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AMR in 2019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68880" y="2788920"/>
            <a:ext cx="19659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(Lancet, 2022)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17720" y="1188720"/>
            <a:ext cx="19659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188720"/>
            <a:ext cx="1965960" cy="6400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3716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617720" y="2148840"/>
            <a:ext cx="1965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annual AMR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by 2050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17720" y="2788920"/>
            <a:ext cx="19659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(O'Neill Review, 2016)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766560" y="1188720"/>
            <a:ext cx="19659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1188720"/>
            <a:ext cx="196596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3716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766560" y="2148840"/>
            <a:ext cx="1965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AWaRe Access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for hospitals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66560" y="2788920"/>
            <a:ext cx="19659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(WHO EML 2023)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0040" y="37490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Key message: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Antibiotic prescribing in YOUR hospital today shapes resistance patterns in your community tomorrow. Consumption data is your mirror.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AMC–AMR Causal Chain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consumption drives resistance — step by step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1605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54864" cy="107899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07592"/>
            <a:ext cx="384048" cy="384048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07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6968" y="11247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Antibiotic prescribed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149047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receives antibiotic (appropriate or not)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286000"/>
            <a:ext cx="41605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286000"/>
            <a:ext cx="54864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54203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86968" y="23591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pressure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968" y="272491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Susceptible bacteria killed; resistant mutants survive &amp; proliferate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520440"/>
            <a:ext cx="41605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520440"/>
            <a:ext cx="54864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77647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86968" y="35935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 genes spread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86968" y="395935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plasmids, conjugation, horizontal gene transfer (HGT)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9160" y="1051560"/>
            <a:ext cx="41605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1051560"/>
            <a:ext cx="54864" cy="10789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1307592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307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76088" y="11247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Resistant organism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76088" y="149047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Pathogen no longer responds to first-line treatment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2286000"/>
            <a:ext cx="41605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2286000"/>
            <a:ext cx="54864" cy="10789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2542032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76088" y="23591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failure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76088" y="272491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stays, higher costs, Watch/Reserve drugs needed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09160" y="3520440"/>
            <a:ext cx="41605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3520440"/>
            <a:ext cx="54864" cy="10789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00600" y="3776472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76088" y="35935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276088" y="395935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Resistant clone spreads to other patients, community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462272" y="1051560"/>
            <a:ext cx="0" cy="3703320"/>
          </a:xfrm>
          <a:prstGeom prst="line">
            <a:avLst/>
          </a:prstGeom>
          <a:noFill/>
          <a:ln w="19050">
            <a:solidFill>
              <a:srgbClr val="0A7E8C"/>
            </a:solidFill>
            <a:prstDash val="dash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Daily Dose (DDD) — The Standard Unit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WHO/ATC definition and the key formula you must know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1234440"/>
          </a:xfrm>
          <a:prstGeom prst="rect">
            <a:avLst/>
          </a:prstGeom>
          <a:solidFill>
            <a:srgbClr val="EFF8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8503920" cy="5486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(WHO, 2024):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assumed average maintenance dose per day for a drug used for its main indication in adults."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377440"/>
            <a:ext cx="41148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377440"/>
            <a:ext cx="64008" cy="22860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4505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DDD / 100 Bed-Days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9077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182112"/>
            <a:ext cx="384048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(Total grams consumed ÷ DDD_g) × 100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─────────────────────────────────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Total Bed-Days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43159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Ref: WHO Collaborating Centre for Drug Statistics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Methodology, Oslo. ATC/DDD Index 2024.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63440" y="2377440"/>
            <a:ext cx="41605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2377440"/>
            <a:ext cx="64008" cy="22860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4505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2907792"/>
            <a:ext cx="3840480" cy="1691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Ciprofloxacin 500mg tabs
</a:t>
            </a:r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DDD: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g/day (oral)
</a:t>
            </a:r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dispensed: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tablets × 0.5g = 300g
</a:t>
            </a:r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Bed-days: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
</a:t>
            </a:r>
            <a:pPr indent="0" marL="0">
              <a:buNone/>
            </a:pPr>
            <a:r>
              <a:rPr lang="en-US" sz="10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DDD/100 BD = (300 ÷ 1) × 100 ÷ 1000
</a:t>
            </a:r>
            <a:pPr indent="0" marL="0">
              <a:buNone/>
            </a:pPr>
            <a:r>
              <a:rPr lang="en-US" sz="10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30 DDD / 100 bed-days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Therapy (DOT) &amp; Prescribed Daily Dose (PDD)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 metrics that reveal real-world prescribing behaviour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605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4160520" cy="6400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097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— Days of Therapy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9768" y="1554480"/>
            <a:ext cx="393192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number of calendar days a patient receives an antimicrobial agent, regardless of dose."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" y="2286000"/>
            <a:ext cx="3886200" cy="1005840"/>
          </a:xfrm>
          <a:prstGeom prst="rect">
            <a:avLst/>
          </a:prstGeom>
          <a:solidFill>
            <a:srgbClr val="F0FD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9496" y="23317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Formula: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9496" y="2606040"/>
            <a:ext cx="370332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 = Number of patient-days on drug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(one patient on drug for 3 days = 3 DOTs)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768" y="3401568"/>
            <a:ext cx="3886200" cy="457200"/>
          </a:xfrm>
          <a:prstGeom prst="rect">
            <a:avLst/>
          </a:prstGeom>
          <a:solidFill>
            <a:srgbClr val="FFF7ED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3429000"/>
            <a:ext cx="37490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Best for: patient-level stewardship, duration audits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9768" y="3977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Ref: Polk et al. CID 2007; 44(5):664-670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41605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005840"/>
            <a:ext cx="41605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18888" y="1097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PDD — Prescribed Daily Dose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18888" y="1554480"/>
            <a:ext cx="393192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mean dose prescribed per day, derived from actual prescription data."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18888" y="2286000"/>
            <a:ext cx="3886200" cy="1005840"/>
          </a:xfrm>
          <a:prstGeom prst="rect">
            <a:avLst/>
          </a:prstGeom>
          <a:solidFill>
            <a:srgbClr val="F0FD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28616" y="23317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Formula: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28616" y="2606040"/>
            <a:ext cx="370332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PDD = Total dose dispensed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─────────────────────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Number of days of use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18888" y="3401568"/>
            <a:ext cx="3886200" cy="457200"/>
          </a:xfrm>
          <a:prstGeom prst="rect">
            <a:avLst/>
          </a:prstGeom>
          <a:solidFill>
            <a:srgbClr val="FFF7ED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0328" y="3429000"/>
            <a:ext cx="37490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Compare PDD vs DDD: if PDD &lt; DDD → underdosing risk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18888" y="3977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Ref: WHO Drug Statistics Methodology 2024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solidFill>
            <a:srgbClr val="0D2137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DDD : DOT Ratio &gt; 1.0 signals HIGH-dose prescribing   |   &lt; 1.0 signals UNDERDOSING   |   = 1.0 matches WHO standard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DDD : DOT Ratio &gt; 1.0 → HIGH-dose prescribing   |   &lt; 1.0 → UNDERDOSING risk   |   ≈ 1.0 → matches WHO standard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AWaRe Classification of Antibiotics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· Watch · Reserve — the global stewardship framework (WHO EML 2023)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788920" cy="397764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78892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ACCESS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40280" y="100584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≥ 60%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26060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 and second-line antibiotics with narrow/moderate spectrum, low resistance potential, widely available &amp; affordable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Examples in Ghana EML: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65176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• Amoxicillin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2807208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• Co-trimoxazole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2962656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• Benzyl Penicillin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311810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• Metronidazole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327355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• Nitrofurantoin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342900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• Doxycycline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3584448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• Gentamicin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3739896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• Chloramphenicol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1480" y="4370832"/>
            <a:ext cx="260604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370832"/>
            <a:ext cx="2606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WHO TARGET: ≥60% of total antibiotic consumption should come from this group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246120" y="1005840"/>
            <a:ext cx="2788920" cy="3977640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1005840"/>
            <a:ext cx="2788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WATCH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66360" y="100584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Monitor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37560" y="1572768"/>
            <a:ext cx="26060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resistance potential, broader spectrum — recommended only when Access antibiotics are inappropriate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37560" y="23774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Examples in Ghana EML: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37560" y="265176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• Ciprofloxacin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337560" y="2807208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• Ceftriaxone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337560" y="2962656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• Azithromycin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37560" y="311810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• Clarithromycin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337560" y="327355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• Levofloxacin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337560" y="342900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• Vancomycin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337560" y="3584448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• Clindamycin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337560" y="3739896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• Cefuroxime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337560" y="4370832"/>
            <a:ext cx="260604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37560" y="4370832"/>
            <a:ext cx="2606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RESTRICT: Use only when microbiologically justified; audit prescriptions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172200" y="1005840"/>
            <a:ext cx="2788920" cy="3977640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72200" y="1005840"/>
            <a:ext cx="278892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RESERVE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092440" y="100584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Last resort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63640" y="1572768"/>
            <a:ext cx="26060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Last-resort antibiotics — should be used only when all other options have failed or are contraindicated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63640" y="23774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Examples in Ghana EML: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63640" y="265176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• Meropenem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263640" y="2807208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• Colistin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263640" y="2962656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• Linezolid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263640" y="311810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• Daptomycin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263640" y="327355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• Cefiderocol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263640" y="342900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• Imipenem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263640" y="3584448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• Tigecycline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263640" y="3739896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• Ceftazidime-Avibactam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263640" y="4370832"/>
            <a:ext cx="260604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63640" y="4370832"/>
            <a:ext cx="2606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STRICT CONTROL: Prior authorisation required; ID specialist review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20040" y="498348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Reference: WHO Model List of Essential Medicines 23rd Edition (2023); WHO AWaRe Classification 2023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Calculating Your Hospital's AWaRe Ratio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worked example with interpretation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02996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93192" y="978408"/>
            <a:ext cx="347472" cy="347472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978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" y="9784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antibiotic DDDs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344168"/>
            <a:ext cx="18288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consumption analysis, get total DDD for each antibiotic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14600" y="914400"/>
            <a:ext cx="202996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87752" y="978408"/>
            <a:ext cx="347472" cy="347472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87752" y="978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90088" y="9784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AWaRe category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606040" y="1344168"/>
            <a:ext cx="18288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each drug to Access, Watch, or Reserve using WHO AWaRe list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09160" y="914400"/>
            <a:ext cx="202996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82312" y="978408"/>
            <a:ext cx="347472" cy="347472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2312" y="978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84648" y="9784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DDDs per category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00600" y="1344168"/>
            <a:ext cx="18288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up total DDDs for each AWaRe group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903720" y="914400"/>
            <a:ext cx="202996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76872" y="978408"/>
            <a:ext cx="347472" cy="347472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76872" y="978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79208" y="9784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percentage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95160" y="1344168"/>
            <a:ext cx="18288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Access = (DDD_Access ÷ DDD_Total) × 100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20040" y="202996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Sample Hospital Antibiotic Consumption (Month)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377440"/>
          <a:ext cx="8503920" cy="214884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1280160"/>
                <a:gridCol w="1280160"/>
                <a:gridCol w="1097280"/>
                <a:gridCol w="109728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Drug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AWaRe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WHO DDD (g)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Total g used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DDDs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% of total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Amoxicillin 500mg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ACCESS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1.0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450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450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30.0%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Co-trimoxazole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ACCESS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1.92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115.2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4.0%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Metronidazole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ACCESS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1.5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13.3%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Doxycycline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ACCESS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120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8.0%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Ceftriaxone 1g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WATCH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2.0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13.3%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Ciprofloxacin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WATCH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1.0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250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250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16.7%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Meropenem 1g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RESERVE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3.0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1.3%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1587.2 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1300 DDDs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86.7%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320040" y="4572000"/>
            <a:ext cx="269748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20040" y="4572000"/>
            <a:ext cx="269748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46451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DDDs: 830 (63.8%)  ✓ Exceeds WHO 60% target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3200400" y="4572000"/>
            <a:ext cx="269748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200400" y="4572000"/>
            <a:ext cx="26974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337560" y="46451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DDDs: 450 (34.6%)  ⚠ Monitor &amp; de-escalate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080760" y="4572000"/>
            <a:ext cx="269748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080760" y="4572000"/>
            <a:ext cx="269748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217920" y="46451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DDDs: 20 (1.5%)  ✓ Well controlled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Hospital — Top Antibiotic Consumption by DDD/100 Bed-Days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interpretation and benchmark comparison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868680"/>
          <a:ext cx="56692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72200" y="1051560"/>
            <a:ext cx="201168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46520" y="10241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group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172200" y="1399032"/>
            <a:ext cx="2011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46520" y="1371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group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72200" y="1746504"/>
            <a:ext cx="201168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46520" y="17190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group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72200" y="1920240"/>
            <a:ext cx="25603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72200" y="20299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72200" y="2395728"/>
            <a:ext cx="26517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Amoxicillin (Access) correctly leads — good signal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172200" y="2834640"/>
            <a:ext cx="26517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Ceftriaxone 30 DDD/100BD is HIGH — audit indication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172200" y="3273552"/>
            <a:ext cx="26517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Ciprofloxacin 25 DDD/100BD may drive resistance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172200" y="3712464"/>
            <a:ext cx="26517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Meropenem use low — stewardship working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172200" y="4151376"/>
            <a:ext cx="26517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share = 63% — meets WHO 60% target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20040" y="498348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Source: WHO GLASS AMC Reporting Template; ECDC/EARS-Net benchmarks for reference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Correlating AMC with AMR Rates — The Evidence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rising consumption predicts rising resistance: scatter plot analysis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868680"/>
          <a:ext cx="56692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72200" y="868680"/>
            <a:ext cx="260604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172200" y="868680"/>
            <a:ext cx="2606040" cy="5486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91072" y="960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Interpretation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291072" y="1325880"/>
            <a:ext cx="2377440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equation:
</a:t>
            </a:r>
            <a:pPr indent="0" marL="0">
              <a:buNone/>
            </a:pPr>
            <a:r>
              <a:rPr lang="en-US" sz="9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2.8x + 8
</a:t>
            </a:r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0.78
</a:t>
            </a:r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(Strong positive correlation)
</a:t>
            </a:r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
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+10 DDD/100BD increase in ciprofloxacin use, E. coli resistance rises ~28 percentage points
</a:t>
            </a:r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 = 0.88
</a:t>
            </a:r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291072" y="3246120"/>
            <a:ext cx="2377440" cy="1325880"/>
          </a:xfrm>
          <a:prstGeom prst="rect">
            <a:avLst/>
          </a:prstGeom>
          <a:solidFill>
            <a:srgbClr val="FFF7ED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55080" y="3310128"/>
            <a:ext cx="228600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Hospital Decision Point:
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hospital's ciprofloxacin DDD/100BD exceeds 25, your predicted E. coli resistance is &gt;</a:t>
            </a:r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78%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Review empirical UTI &amp; wound infection protocols immediately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20040" y="498348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Simulated data illustrating published correlation (Goossens H. et al. Lancet 2005; van Boeckel et al. Lancet ID 2014)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Cross-Checking AMC Data with Hospital AMR Rates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Deductions and actions — the stewardship decision matrix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89611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high-consumption antibiotic, compare your consumption rate with your local susceptibility data: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8503920" cy="3749040"/>
        </p:xfrm>
        <a:graphic>
          <a:graphicData uri="http://schemas.openxmlformats.org/drawingml/2006/table">
            <a:tbl>
              <a:tblPr/>
              <a:tblGrid>
                <a:gridCol w="1280160"/>
                <a:gridCol w="914400"/>
                <a:gridCol w="1188720"/>
                <a:gridCol w="914400"/>
                <a:gridCol w="2286000"/>
                <a:gridCol w="19202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Drug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DDD/100 BD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Organism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% Resistant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Hospital Action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Ciprofloxacin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</a:rPr>
                        <a:t>30 ⬆️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E. coli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</a:rPr>
                        <a:t>72% 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7C2D12"/>
                          </a:solidFill>
                        </a:rPr>
                        <a:t>HIGH consumption → HIGH resistance. Ciprofloxacin no longer reliable empirically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</a:rPr>
                        <a:t>Remove from empirical UTI guideline. Use nitrofurantoin or fosfomycin.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Ceftriaxone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</a:rPr>
                        <a:t>28 ⬆️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Klebsiella pneu.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</a:rPr>
                        <a:t>45% ESBL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78350F"/>
                          </a:solidFill>
                        </a:rPr>
                        <a:t>Watch category overuse → ESBL emergence. Indicates selection pressure for broad-spectrum cephalosporins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</a:rPr>
                        <a:t>Mandate culture before prescribing. Restrict to ID-confirmed cases. De-escalate to amoxicillin if susceptible.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Amoxicillin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</a:rPr>
                        <a:t>40 ✓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S. pneumoniae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</a:rPr>
                        <a:t>18% 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532D"/>
                          </a:solidFill>
                        </a:rPr>
                        <a:t>Access drug in high use — acceptable. Resistance rate within acceptable range (&lt; 30%)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</a:rPr>
                        <a:t>Continue as first-line. Monitor quarterly. Acceptable stewardship profile.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Meropenem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</a:rPr>
                        <a:t>4 ✓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Pseudomonas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</a:rPr>
                        <a:t>12% 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532D"/>
                          </a:solidFill>
                        </a:rPr>
                        <a:t>Reserve drug: low use, low resistance. Stewardship programme is working for this drug.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</a:rPr>
                        <a:t>Maintain prior authorisation. Monthly usage review. Congratulate team — target met.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Vancomycin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</a:rPr>
                        <a:t>6 ⚠️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Enterococcus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</a:rPr>
                        <a:t>8% VRE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78350F"/>
                          </a:solidFill>
                        </a:rPr>
                        <a:t>VRE rate rising in context of moderate vancomycin use. Early warning signal.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</a:rPr>
                        <a:t>Infection control: contact precautions for VRE patients. Screen ICU. Restrict vancomycin to MRSA only.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20040" y="4992624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Reference: ECDC/EARS-Net 2023 Surveillance Report; WHO GLASS 2022; NMIMR AMR Sentinel Data (Ghana)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PDD vs DDD: Detecting Dosing Anomalies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gap between prescribed and WHO standard dose tells you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868680"/>
          <a:ext cx="5486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89320" y="868680"/>
            <a:ext cx="27889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89320" y="868680"/>
            <a:ext cx="2788920" cy="5486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08192" y="960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This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08192" y="1353312"/>
            <a:ext cx="2560320" cy="658368"/>
          </a:xfrm>
          <a:prstGeom prst="rect">
            <a:avLst/>
          </a:prstGeom>
          <a:solidFill>
            <a:srgbClr val="000000"/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99632" y="138988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PDD &lt; 80% DDD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199632" y="162763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Underdosing — subtherapeutic exposure selects resistant mutants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108192" y="2103120"/>
            <a:ext cx="2560320" cy="658368"/>
          </a:xfrm>
          <a:prstGeom prst="rect">
            <a:avLst/>
          </a:prstGeom>
          <a:solidFill>
            <a:srgbClr val="000000"/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99632" y="213969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PDD 80–120% DDD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199632" y="23774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Within acceptable range — optimal therapeutic exposure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108192" y="2852928"/>
            <a:ext cx="2560320" cy="658368"/>
          </a:xfrm>
          <a:prstGeom prst="rect">
            <a:avLst/>
          </a:prstGeom>
          <a:solidFill>
            <a:srgbClr val="000000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99632" y="288950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PDD &gt; 120% DDD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199632" y="312724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Overdosing — excess toxicity risk, not beneficial for efficacy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108192" y="3639312"/>
            <a:ext cx="2560320" cy="886968"/>
          </a:xfrm>
          <a:prstGeom prst="rect">
            <a:avLst/>
          </a:prstGeom>
          <a:solidFill>
            <a:srgbClr val="F0F9FF"/>
          </a:solidFill>
          <a:ln w="6350">
            <a:solidFill>
              <a:srgbClr val="0A7E8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99632" y="3675888"/>
            <a:ext cx="2377440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here:
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Azithromycin PDD (350mg) &lt; DDD (300mg)
→ Actually fine (350 &gt; 300)
</a:t>
            </a:r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Ceftriaxone PDD (1600mg) vs DDD (2000mg)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UNDERDOSING — 80% of DDD. Review dosing protocol.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20040" y="498348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Ref: WHO ATC/DDD Methodology 2024; Mouton JW et al. J Antimicrob Chemother 2018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Analysis: Monitoring AMC Over Time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Monthly/quarterly DDD tracking reveals stewardship impact and seasonal patterns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868680"/>
          <a:ext cx="85039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4270248"/>
            <a:ext cx="2743200" cy="749808"/>
          </a:xfrm>
          <a:prstGeom prst="rect">
            <a:avLst/>
          </a:prstGeom>
          <a:solidFill>
            <a:srgbClr val="000000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4315968"/>
            <a:ext cx="25603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Ceftriaxone peak (Aug): 45 DDD/100BD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Malaria co-infection season?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Audit indication &amp; culture rates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200400" y="4270248"/>
            <a:ext cx="2743200" cy="749808"/>
          </a:xfrm>
          <a:prstGeom prst="rect">
            <a:avLst/>
          </a:prstGeom>
          <a:solidFill>
            <a:srgbClr val="000000"/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91840" y="4315968"/>
            <a:ext cx="25603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Amoxicillin stable 38–47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consistent Access drug use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Good stewardship signal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080760" y="4270248"/>
            <a:ext cx="2743200" cy="749808"/>
          </a:xfrm>
          <a:prstGeom prst="rect">
            <a:avLst/>
          </a:prstGeom>
          <a:solidFill>
            <a:srgbClr val="000000"/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72200" y="4315968"/>
            <a:ext cx="25603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Meropenem creep Jun–Aug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Intervention needed immediately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Check if ESBL driving carbapenem use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NHIS Reimbursement, Prescribing Incentives &amp; Stewardship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Ghana-specific lens: how reimbursement policy shapes antibiotic choice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868680"/>
          <a:ext cx="43891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983480" y="868680"/>
            <a:ext cx="37947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983480" y="868680"/>
            <a:ext cx="3794760" cy="5486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02352" y="96926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Observations for Ghana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102352" y="1417320"/>
            <a:ext cx="3566160" cy="51206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38928" y="146304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🔴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504688" y="1444752"/>
            <a:ext cx="310896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antibiotics (e.g. ceftriaxone, ciprofloxacin) are NHIS-reimbursed, creating a financial incentive to prescribe them over cheaper Access drugs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102352" y="2011680"/>
            <a:ext cx="3566160" cy="51206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38928" y="205740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🟡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504688" y="2039112"/>
            <a:ext cx="310896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Amoxicillin + clavulanate (Watch) is reimbursed but plain amoxicillin (Access) is also reimbursed — prescribers may default to broader cover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102352" y="2606040"/>
            <a:ext cx="3566160" cy="51206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38928" y="265176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🟢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504688" y="2633472"/>
            <a:ext cx="310896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Co-trimoxazole, metronidazole, amoxicillin are all Access + Reimbursed — ideal for stewardship promotion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102352" y="3200400"/>
            <a:ext cx="3566160" cy="51206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38928" y="324612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⚠️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504688" y="3227832"/>
            <a:ext cx="310896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drugs (meropenem, vancomycin) are NOT reimbursed — this acts as a natural financial brake on Reserve overuse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102352" y="3794760"/>
            <a:ext cx="3566160" cy="51206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138928" y="384048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💡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504688" y="3822192"/>
            <a:ext cx="310896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Stewardship programme should align NHIS pre-authorisation rules with AWaRe categories: require culture results before reimbursing Watch antibiotics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320040" y="4992624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Ref: Ghana NHI Act 650 (2003); Ghana EML 7th Ed. NHIS Status Column; Huttner et al. Lancet ID 2020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Antimicrobial Stewardship Programme (ASP) — Core Elements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pillars your hospital must implement (CDC Core Elements, 2019)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60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54864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" y="1234440"/>
            <a:ext cx="384048" cy="384048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86968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Commitment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144475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dedicates resources, staff &amp; budget to ASP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4160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05840"/>
            <a:ext cx="54864" cy="9144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18888" y="1234440"/>
            <a:ext cx="384048" cy="384048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76088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76088" y="144475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physician &amp; pharmacist lead with defined responsibility and authority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029968"/>
            <a:ext cx="4160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029968"/>
            <a:ext cx="54864" cy="9144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" y="2258568"/>
            <a:ext cx="384048" cy="384048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86968" y="21214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Expertise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6968" y="24688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pharmacist with ID training reviews antibiotic prescriptions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9160" y="2029968"/>
            <a:ext cx="4160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029968"/>
            <a:ext cx="54864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18888" y="2258568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8888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76088" y="21214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76088" y="24688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formulary restriction, prior authorisation, de-escalation protocols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3054096"/>
            <a:ext cx="4160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054096"/>
            <a:ext cx="54864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9768" y="3282696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" y="3282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86968" y="314553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86968" y="349300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DDD/100BD, DOT, AWaRe ratios — monthly dashboard to clinical teams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09160" y="3054096"/>
            <a:ext cx="4160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3054096"/>
            <a:ext cx="54864" cy="914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18888" y="3282696"/>
            <a:ext cx="384048" cy="38404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18888" y="3282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276088" y="314553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76088" y="349300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data with prescribers, management, Ghana Health Service, NMIMR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606040" y="4078224"/>
            <a:ext cx="4160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606040" y="4078224"/>
            <a:ext cx="54864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15768" y="4306824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15768" y="4306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172968" y="41696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172968" y="451713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ALL prescribers (not just doctors!) on AMC metrics and resistance implications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20040" y="4992624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Ref: CDC Core Elements of Hospital Antibiotic Stewardship Programs (2019); WHO GLASS Handbook 2022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Hospital Decision Framework — Turning Data into Action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4-step approach to AMC-driven stewardship decisions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60520" cy="1993392"/>
          </a:xfrm>
          <a:prstGeom prst="rect">
            <a:avLst/>
          </a:prstGeom>
          <a:solidFill>
            <a:srgbClr val="E0F2F1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4160520" cy="41148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 MEASURE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" y="148132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DDD/100 bed-days per antibiotic monthly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" y="176479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AWaRe Access ratio (target ≥ 60%)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" y="2048256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PDD vs WHO DDD for top 10 drugs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" y="233172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DOT per admission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9768" y="2615184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5 AWaRe Watch drugs by volume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4160520" cy="1993392"/>
          </a:xfrm>
          <a:prstGeom prst="rect">
            <a:avLst/>
          </a:prstGeom>
          <a:solidFill>
            <a:srgbClr val="F3E8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005840"/>
            <a:ext cx="416052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00584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🔬  ANALYSE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18888" y="148132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Cross-tabulate with microbiology susceptibility data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18888" y="176479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DDD ↑ + resistance ↑ correlations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18888" y="2048256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PDD &lt; 80% of DDD (underdosing)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18888" y="233172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new resistance patterns in sentinel organisms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18888" y="2615184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against WHO GLASS or EARS-Net data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3108960"/>
            <a:ext cx="4160520" cy="1993392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108960"/>
            <a:ext cx="416052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0896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🏛️  DECIDE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9768" y="358444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empirical treatment guidelines based on local data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29768" y="386791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Watch drugs to culture-confirmed or ID-approved use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9768" y="4151376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de-escalation review at 48–72h for all IV antibiotics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29768" y="443484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high-resistance antibiotics from empirical protocol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9768" y="4718304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monthly DDD targets per ward/specialty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3108960"/>
            <a:ext cx="4160520" cy="1993392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3108960"/>
            <a:ext cx="416052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310896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EVALUATE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18888" y="358444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monthly DDD analysis after each intervention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18888" y="386791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resistance trends quarterly (3-month lag expected)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18888" y="4151376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AWaRe ratio to hospital management quarterly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18888" y="443484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internal stewardship report to clinical teams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18888" y="4718304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guidelines annually based on updated AMR data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Your R Script for Routine AMC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ghana_drug_analysis.R script connects to everything we have covered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7432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743200" cy="41148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Script Output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" y="1481328"/>
            <a:ext cx="25603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classified dataset with EML category, ATC code, AWaRe group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" y="1938528"/>
            <a:ext cx="25603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DDD/100 bed-days per antibiotic (set TOTAL_BED_DAYS in config)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" y="2395728"/>
            <a:ext cx="25603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and PDD summary per drug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" y="2852928"/>
            <a:ext cx="25603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 Access/Watch/Reserve ratio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9768" y="3310128"/>
            <a:ext cx="25603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NHIS reimbursement coverage by category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9768" y="3767328"/>
            <a:ext cx="25603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30 drugs by DDD consumed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9768" y="4224528"/>
            <a:ext cx="25603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drugs list for manual review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27832" y="1005840"/>
            <a:ext cx="27432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27832" y="1005840"/>
            <a:ext cx="27432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27832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How to Interpret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1481328"/>
            <a:ext cx="25603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DDD/100BD descending — top drugs drive resistance risk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37560" y="1938528"/>
            <a:ext cx="25603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Access ratio: if &lt; 60% → stewardship alert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37560" y="2395728"/>
            <a:ext cx="25603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PDD column: flag any drug where PDD &lt; 0.8 × DDD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2852928"/>
            <a:ext cx="25603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unclassified list against local formulary each run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37560" y="3310128"/>
            <a:ext cx="25603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Watch DDD/100BD vs last month's AMR susceptibility report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37560" y="3767328"/>
            <a:ext cx="25603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trend over 6–12 months for Watch drugs (ciprofloxacin, ceftriaxone)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37560" y="4224528"/>
            <a:ext cx="25603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Category_Summary tab in monthly clinical governance meeting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35624" y="1005840"/>
            <a:ext cx="27432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35624" y="1005840"/>
            <a:ext cx="274320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35624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Recommended Schedule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45352" y="1481328"/>
            <a:ext cx="25603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Monthly: Run full script, share top-10 DDD table with pharmacy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45352" y="1938528"/>
            <a:ext cx="25603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Quarterly: Overlay with microbiology susceptibility data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45352" y="2395728"/>
            <a:ext cx="25603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Semi-annually: Compute trend lines, update empirical guidelines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45352" y="2852928"/>
            <a:ext cx="25603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Annually: Full AWaRe ratio report to hospital management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45352" y="3310128"/>
            <a:ext cx="25603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Immediately: If Reserve drug DDD/100BD increases &gt; 50%, escalate to ID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45352" y="3767328"/>
            <a:ext cx="25603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alert: Ceftriaxone &gt; 35 or Ciprofloxacin &gt; 30 DDD/100BD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45352" y="4224528"/>
            <a:ext cx="25603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TOTAL_BED_DAYS in script config for your facility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956048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7E8C"/>
                </a:solidFill>
              </a:rPr>
              <a:t>Files provided: ghana_drug_analysis.R · ghana_eml_reference.csv — run with your Drug_data.xlsx in the same working directory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Take-Aways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804672"/>
            <a:ext cx="5029200" cy="36576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43000"/>
            <a:ext cx="384048" cy="384048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78408" y="112471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DDD/100 bed-days is the universal comparator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78408" y="146304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normalises consumption across hospitals of different sizes. Always use it alongside DOT.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384048" cy="384048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84648" y="112471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 Access ratio ≥ 60% is your headline target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84648" y="146304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hospital is below 60% Access, you have a measurable stewardship gap to close.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441448"/>
            <a:ext cx="384048" cy="384048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78408" y="24231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 data predicts AMR — use the correlation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78408" y="276148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DDD of Watch/Reserve antibiotics is an early warning signal. Act before resistance becomes entrenched.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2441448"/>
            <a:ext cx="384048" cy="384048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84648" y="24231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PDD vs DDD reveals dosing quality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84648" y="276148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Underdosing (PDD &lt; 80% DDD) is as dangerous as overuse — it selects resistant mutants without curing infection.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739896"/>
            <a:ext cx="384048" cy="384048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739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78408" y="372160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without action is wasted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78408" y="405993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analysis → quarterly review → annual guideline update. The R script gives you the data. Leadership must drive the decisions.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3739896"/>
            <a:ext cx="384048" cy="384048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3739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84648" y="372160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AMR data must inform local guidelines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84648" y="405993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benchmarks are starting points. Your NMIMR culture data and your DDD trends together define your empirical protocols.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0292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07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Hub · Noguchi Memorial Institute for Medical Research · Ghana Health Service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Further Reading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896112"/>
            <a:ext cx="4187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Murray CJ et al. Global burden of bacterial antimicrobial resistance in 2019: a systematic analysis. Lancet 2022;399(10325):629–655.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1444752"/>
            <a:ext cx="4187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WHO Collaborating Centre for Drug Statistics Methodology. ATC/DDD Index 2024. Oslo: WHOCC; 2024. www.whocc.no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1993392"/>
            <a:ext cx="4187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Polk RE et al. Measurement of Adult Antibacterial Drug Use in 130 US Hospitals. Clin Infect Dis 2007;44(5):664–670.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2542032"/>
            <a:ext cx="4187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WHO. AWaRe (Access, Watch, Reserve) classification of antibiotics. 23rd WHO Model List of Essential Medicines. Geneva: WHO; 2023.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3090672"/>
            <a:ext cx="4187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O'Neill J. Tackling Drug-Resistant Infections Globally: Final Report and Recommendations. London: HM Government; 2016.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3639312"/>
            <a:ext cx="4187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Goossens H et al. Outpatient antibiotic use in Europe and association with resistance: a cross-national database study. Lancet 2005;365(9459):579–587.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" y="4187952"/>
            <a:ext cx="4187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van Boeckel TP et al. Global antibiotic consumption 2000 to 2010: an analysis of national pharmaceutical sales data. Lancet Infect Dis 2014;14(8):742–750.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663440" y="896112"/>
            <a:ext cx="4187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Mouton JW et al. The role of pharmacokinetics/pharmacodynamics in setting clinical MIC breakpoints: the EUCAST approach. Clin Microbiol Infect 2018.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63440" y="1444752"/>
            <a:ext cx="4187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CDC. Core Elements of Hospital Antibiotic Stewardship Programs. Atlanta: CDC; 2019. www.cdc.gov/antibiotic-use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663440" y="1993392"/>
            <a:ext cx="4187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WHO. Global Antimicrobial Resistance and Use Surveillance System (GLASS) Report 2022. Geneva: WHO; 2022.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63440" y="2542032"/>
            <a:ext cx="4187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ECDC. Antimicrobial Resistance in the EU/EEA (EARS-Net) - Annual Epidemiological Report 2023. Stockholm: ECDC; 2023.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63440" y="3090672"/>
            <a:ext cx="4187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Ghana Ministry of Health. Essential Medicines List, 7th Edition. Accra: Ghana National Drugs Programme; 2017.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63440" y="3639312"/>
            <a:ext cx="4187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Huttner A et al. Antimicrobial resistance: a global emerging threat to public health systems. Swiss Med Wkly 2020;150:w20065.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63440" y="4187952"/>
            <a:ext cx="4187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NMIMR AMR HUB. Antimicrobial Resistance Surveillance Data, Ghana Sentinel Sites. Noguchi Memorial Institute for Medical Research; 2023.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0" y="868680"/>
            <a:ext cx="0" cy="411480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Antimicrobial Consumption &amp; AMR: From Data to Hospital Decisions</dc:title>
  <dc:subject>PptxGenJS Presentation</dc:subject>
  <dc:creator>AMR/AMC Teaching Module</dc:creator>
  <cp:lastModifiedBy>AMR/AMC Teaching Module</cp:lastModifiedBy>
  <cp:revision>1</cp:revision>
  <dcterms:created xsi:type="dcterms:W3CDTF">2026-05-06T15:02:27Z</dcterms:created>
  <dcterms:modified xsi:type="dcterms:W3CDTF">2026-05-06T15:02:27Z</dcterms:modified>
</cp:coreProperties>
</file>